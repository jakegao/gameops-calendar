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C8A84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"/>
            <a:ext cx="9144000" cy="4572"/>
          </a:xfrm>
          <a:prstGeom prst="rect">
            <a:avLst/>
          </a:prstGeom>
          <a:solidFill>
            <a:srgbClr val="C8A84E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9144000" cy="4572"/>
          </a:xfrm>
          <a:prstGeom prst="rect">
            <a:avLst/>
          </a:prstGeom>
          <a:solidFill>
            <a:srgbClr val="C8A84E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9144000" cy="4572"/>
          </a:xfrm>
          <a:prstGeom prst="rect">
            <a:avLst/>
          </a:prstGeom>
          <a:solidFill>
            <a:srgbClr val="C8A84E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3152"/>
            <a:ext cx="9144000" cy="4572"/>
          </a:xfrm>
          <a:prstGeom prst="rect">
            <a:avLst/>
          </a:prstGeom>
          <a:solidFill>
            <a:srgbClr val="C8A84E">
              <a:alpha val="7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91440"/>
            <a:ext cx="9144000" cy="4572"/>
          </a:xfrm>
          <a:prstGeom prst="rect">
            <a:avLst/>
          </a:prstGeom>
          <a:solidFill>
            <a:srgbClr val="C8A84E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731520"/>
            <a:ext cx="54864" cy="292608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97280"/>
            <a:ext cx="27432" cy="2194560"/>
          </a:xfrm>
          <a:prstGeom prst="rect">
            <a:avLst/>
          </a:prstGeom>
          <a:solidFill>
            <a:srgbClr val="C8A84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ELEMENTS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1554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200" kern="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行 奖 池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暗区突围 · 商业化活动交互设计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2286000" cy="18288"/>
          </a:xfrm>
          <a:prstGeom prst="rect">
            <a:avLst/>
          </a:prstGeom>
          <a:solidFill>
            <a:srgbClr val="C8A84E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6A"/>
                </a:solidFill>
              </a:rPr>
              <a:t>TENCENT GAMES  |  INTERACTION DESIGN  | 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731520"/>
            <a:ext cx="594360" cy="594360"/>
          </a:xfrm>
          <a:prstGeom prst="ellipse">
            <a:avLst/>
          </a:prstGeom>
          <a:solidFill>
            <a:srgbClr val="C8A84E">
              <a:alpha val="25000"/>
            </a:srgbClr>
          </a:solidFill>
          <a:ln w="19050">
            <a:solidFill>
              <a:srgbClr val="C8A8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731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3880" y="7315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98080" y="1554480"/>
            <a:ext cx="594360" cy="594360"/>
          </a:xfrm>
          <a:prstGeom prst="ellipse">
            <a:avLst/>
          </a:prstGeom>
          <a:solidFill>
            <a:srgbClr val="4A7A3E">
              <a:alpha val="25000"/>
            </a:srgbClr>
          </a:solidFill>
          <a:ln w="19050">
            <a:solidFill>
              <a:srgbClr val="4A7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83880" y="1554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98080" y="2377440"/>
            <a:ext cx="594360" cy="594360"/>
          </a:xfrm>
          <a:prstGeom prst="ellipse">
            <a:avLst/>
          </a:prstGeom>
          <a:solidFill>
            <a:srgbClr val="3A6B8C">
              <a:alpha val="25000"/>
            </a:srgbClr>
          </a:solidFill>
          <a:ln w="19050">
            <a:solidFill>
              <a:srgbClr val="3A6B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8388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98080" y="3200400"/>
            <a:ext cx="594360" cy="594360"/>
          </a:xfrm>
          <a:prstGeom prst="ellipse">
            <a:avLst/>
          </a:prstGeom>
          <a:solidFill>
            <a:srgbClr val="8B3A2A">
              <a:alpha val="25000"/>
            </a:srgbClr>
          </a:solidFill>
          <a:ln w="19050">
            <a:solidFill>
              <a:srgbClr val="8B3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3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83880" y="32004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98080" y="4023360"/>
            <a:ext cx="594360" cy="594360"/>
          </a:xfrm>
          <a:prstGeom prst="ellipse">
            <a:avLst/>
          </a:prstGeom>
          <a:solidFill>
            <a:srgbClr val="7A6A4A">
              <a:alpha val="25000"/>
            </a:srgbClr>
          </a:solidFill>
          <a:ln w="19050">
            <a:solidFill>
              <a:srgbClr val="7A6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6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183880" y="4023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C8A84E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5029200"/>
            <a:ext cx="9144000" cy="9144"/>
          </a:xfrm>
          <a:prstGeom prst="rect">
            <a:avLst/>
          </a:prstGeom>
          <a:solidFill>
            <a:srgbClr val="C8A84E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设计背景与目标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BACKGROUND &amp; OBJECTIVES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设计背景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73152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和平精英「五曜赐福」五行抽奖玩法已验证市场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41448"/>
            <a:ext cx="73152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350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暗区突围用户群偏好硬核/军事/写实风格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16936"/>
            <a:ext cx="73152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825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需将东方五行文化与暗区冷峻美学深度融合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92424"/>
            <a:ext cx="73152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3009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目标用户：高付费意愿的核心FPS玩家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67912"/>
            <a:ext cx="73152" cy="731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776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商业化目标：活动期间ARPU提升30%+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80160"/>
            <a:ext cx="3931920" cy="36576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0" y="1965960"/>
            <a:ext cx="54864" cy="411480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938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148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军事战术终端操作感，旧式CRT屏幕质感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2560320"/>
            <a:ext cx="54864" cy="411480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2532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仪式感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五行元素解锁/升级的战术仪式化体验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3154680"/>
            <a:ext cx="54864" cy="411480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31272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3337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保留追加升星博弈，增加暗区特色资源决策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749040"/>
            <a:ext cx="54864" cy="411480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721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UI风格与暗区主界面灰色基调完全统一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视觉风格定义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STYLE DEFINITION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色彩系统 COLOR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508760" cy="822960"/>
          </a:xfrm>
          <a:prstGeom prst="rect">
            <a:avLst/>
          </a:prstGeom>
          <a:solidFill>
            <a:srgbClr val="C8A84E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 · METAL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#C8A84E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弹壳黄铜 / 传说品质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21408" y="1645920"/>
            <a:ext cx="1508760" cy="822960"/>
          </a:xfrm>
          <a:prstGeom prst="rect">
            <a:avLst/>
          </a:prstGeom>
          <a:solidFill>
            <a:srgbClr val="4A7A3E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21408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木 · WOOD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21408" y="2743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#4A7A3E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21408" y="2907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军用迷彩绿 / 生存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85616" y="1645920"/>
            <a:ext cx="1508760" cy="822960"/>
          </a:xfrm>
          <a:prstGeom prst="rect">
            <a:avLst/>
          </a:prstGeom>
          <a:solidFill>
            <a:srgbClr val="3A6B8C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85616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 · WATER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85616" y="2743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#3A6B8C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85616" y="2907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深海蓝灰 / 稀有品质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49824" y="1645920"/>
            <a:ext cx="1508760" cy="822960"/>
          </a:xfrm>
          <a:prstGeom prst="rect">
            <a:avLst/>
          </a:prstGeom>
          <a:solidFill>
            <a:srgbClr val="8B3A2A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9824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 · FIRE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9824" y="2743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#8B3A2A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49824" y="2907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暗红铁锈 / 危险警告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14032" y="1645920"/>
            <a:ext cx="1508760" cy="822960"/>
          </a:xfrm>
          <a:prstGeom prst="rect">
            <a:avLst/>
          </a:prstGeom>
          <a:solidFill>
            <a:srgbClr val="7A6A4A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14032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 · EARTH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14032" y="2743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#7A6A4A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14032" y="2907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战地沙色 / 基础资源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视觉关键词 VISUAL KEYWORDS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2606040" cy="365760"/>
          </a:xfrm>
          <a:prstGeom prst="rect">
            <a:avLst/>
          </a:prstGeom>
          <a:solidFill>
            <a:srgbClr val="22262F"/>
          </a:solidFill>
          <a:ln w="6350">
            <a:solidFill>
              <a:srgbClr val="3A3F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冷峻军事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3749040"/>
            <a:ext cx="2606040" cy="365760"/>
          </a:xfrm>
          <a:prstGeom prst="rect">
            <a:avLst/>
          </a:prstGeom>
          <a:solidFill>
            <a:srgbClr val="22262F"/>
          </a:solidFill>
          <a:ln w="6350">
            <a:solidFill>
              <a:srgbClr val="3A3F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旧式CRT终端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749040"/>
            <a:ext cx="2606040" cy="365760"/>
          </a:xfrm>
          <a:prstGeom prst="rect">
            <a:avLst/>
          </a:prstGeom>
          <a:solidFill>
            <a:srgbClr val="22262F"/>
          </a:solidFill>
          <a:ln w="6350">
            <a:solidFill>
              <a:srgbClr val="3A3F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功能实用主义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2606040" cy="365760"/>
          </a:xfrm>
          <a:prstGeom prst="rect">
            <a:avLst/>
          </a:prstGeom>
          <a:solidFill>
            <a:srgbClr val="22262F"/>
          </a:solidFill>
          <a:ln w="6350">
            <a:solidFill>
              <a:srgbClr val="3A3F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90年代东欧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91840" y="4251960"/>
            <a:ext cx="2606040" cy="365760"/>
          </a:xfrm>
          <a:prstGeom prst="rect">
            <a:avLst/>
          </a:prstGeom>
          <a:solidFill>
            <a:srgbClr val="22262F"/>
          </a:solidFill>
          <a:ln w="6350">
            <a:solidFill>
              <a:srgbClr val="3A3F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存在感美学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4251960"/>
            <a:ext cx="2606040" cy="365760"/>
          </a:xfrm>
          <a:prstGeom prst="rect">
            <a:avLst/>
          </a:prstGeom>
          <a:solidFill>
            <a:srgbClr val="22262F"/>
          </a:solidFill>
          <a:ln w="6350">
            <a:solidFill>
              <a:srgbClr val="3A3F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反英雄现实主义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核心玩法架构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GAMEPLAY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玩法内核映射  和平精英「五曜赐福」 → 暗区突围「五行战术终端」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A8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原始机制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和平精英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暗区突围（全新设计）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幸运币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暗区行动令（军事行动许可证概念）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抽奖载体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星曜转盘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战术终端扫描（CRT屏幕扫描动画）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五行元素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金木水火土曜星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五行弹药模块（战术装备概念化）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升星机制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普通/保护追加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强化/护甲强化（暗区装备强化语义）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保底兑换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F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五曜令牌兑换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暗区物资凭证兑换（撤离物资概念）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22262F"/>
          </a:solidFill>
          <a:ln w="6350">
            <a:solidFill>
              <a:srgbClr val="C8A8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核心数值保留：五行各20%等概率 | 升星概率 1星82% 2星17% 3星1% | 降星概率 -1星75% -2星25% | 保护追加三次必升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 · 五行战术终端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UI — FIVE ELEMENTS TACTICAL TERMINAL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4754880" cy="3749040"/>
          </a:xfrm>
          <a:prstGeom prst="rect">
            <a:avLst/>
          </a:prstGeom>
          <a:solidFill>
            <a:srgbClr val="1A1D24"/>
          </a:solidFill>
          <a:ln w="12700">
            <a:solidFill>
              <a:srgbClr val="3A3F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4754880" cy="320040"/>
          </a:xfrm>
          <a:prstGeom prst="rect">
            <a:avLst/>
          </a:prstGeom>
          <a:solidFill>
            <a:srgbClr val="14171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五行战术终端  FIVE ELEMENTS TERMINAL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暗区行动令: 340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4480560" cy="1645920"/>
          </a:xfrm>
          <a:prstGeom prst="rect">
            <a:avLst/>
          </a:prstGeom>
          <a:solidFill>
            <a:srgbClr val="0A0D12"/>
          </a:solidFill>
          <a:ln w="6350">
            <a:solidFill>
              <a:srgbClr val="3A3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29384"/>
            <a:ext cx="4480560" cy="0"/>
          </a:xfrm>
          <a:prstGeom prst="line">
            <a:avLst/>
          </a:prstGeom>
          <a:noFill/>
          <a:ln w="3810">
            <a:solidFill>
              <a:srgbClr val="C8A84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94360" y="2258568"/>
            <a:ext cx="4480560" cy="0"/>
          </a:xfrm>
          <a:prstGeom prst="line">
            <a:avLst/>
          </a:prstGeom>
          <a:noFill/>
          <a:ln w="3810">
            <a:solidFill>
              <a:srgbClr val="C8A84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94360" y="2587752"/>
            <a:ext cx="4480560" cy="0"/>
          </a:xfrm>
          <a:prstGeom prst="line">
            <a:avLst/>
          </a:prstGeom>
          <a:noFill/>
          <a:ln w="3810">
            <a:solidFill>
              <a:srgbClr val="C8A84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94360" y="2916936"/>
            <a:ext cx="4480560" cy="0"/>
          </a:xfrm>
          <a:prstGeom prst="line">
            <a:avLst/>
          </a:prstGeom>
          <a:noFill/>
          <a:ln w="3810">
            <a:solidFill>
              <a:srgbClr val="C8A84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94360" y="3246120"/>
            <a:ext cx="4480560" cy="0"/>
          </a:xfrm>
          <a:prstGeom prst="line">
            <a:avLst/>
          </a:prstGeom>
          <a:noFill/>
          <a:ln w="3810">
            <a:solidFill>
              <a:srgbClr val="C8A84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rot="2700000">
            <a:off x="868680" y="2057400"/>
            <a:ext cx="640080" cy="640080"/>
          </a:xfrm>
          <a:prstGeom prst="rect">
            <a:avLst/>
          </a:prstGeom>
          <a:solidFill>
            <a:srgbClr val="C8A84E">
              <a:alpha val="20000"/>
            </a:srgbClr>
          </a:solidFill>
          <a:ln w="12700">
            <a:solidFill>
              <a:srgbClr val="C8A8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 rot="2700000">
            <a:off x="1709928" y="2057400"/>
            <a:ext cx="640080" cy="640080"/>
          </a:xfrm>
          <a:prstGeom prst="rect">
            <a:avLst/>
          </a:prstGeom>
          <a:solidFill>
            <a:srgbClr val="4A7A3E">
              <a:alpha val="20000"/>
            </a:srgbClr>
          </a:solidFill>
          <a:ln w="12700">
            <a:solidFill>
              <a:srgbClr val="4A7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72768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- - -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 rot="2700000">
            <a:off x="2551176" y="2057400"/>
            <a:ext cx="640080" cy="640080"/>
          </a:xfrm>
          <a:prstGeom prst="rect">
            <a:avLst/>
          </a:prstGeom>
          <a:solidFill>
            <a:srgbClr val="3A6B8C">
              <a:alpha val="20000"/>
            </a:srgbClr>
          </a:solidFill>
          <a:ln w="12700">
            <a:solidFill>
              <a:srgbClr val="3A6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05456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14016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- - -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 rot="2700000">
            <a:off x="3392424" y="2057400"/>
            <a:ext cx="640080" cy="640080"/>
          </a:xfrm>
          <a:prstGeom prst="rect">
            <a:avLst/>
          </a:prstGeom>
          <a:solidFill>
            <a:srgbClr val="8B3A2A">
              <a:alpha val="20000"/>
            </a:srgbClr>
          </a:solidFill>
          <a:ln w="12700">
            <a:solidFill>
              <a:srgbClr val="8B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670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3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55264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- - -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 rot="2700000">
            <a:off x="4233672" y="2057400"/>
            <a:ext cx="640080" cy="640080"/>
          </a:xfrm>
          <a:prstGeom prst="rect">
            <a:avLst/>
          </a:prstGeom>
          <a:solidFill>
            <a:srgbClr val="7A6A4A">
              <a:alpha val="20000"/>
            </a:srgbClr>
          </a:solidFill>
          <a:ln w="12700">
            <a:solidFill>
              <a:srgbClr val="7A6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87952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6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96512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- - -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88720" y="3337560"/>
            <a:ext cx="3291840" cy="411480"/>
          </a:xfrm>
          <a:prstGeom prst="rect">
            <a:avLst/>
          </a:prstGeom>
          <a:solidFill>
            <a:srgbClr val="C8A84E">
              <a:alpha val="80000"/>
            </a:srgbClr>
          </a:solidFill>
          <a:ln w="12700">
            <a:solidFill>
              <a:srgbClr val="C8A8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启动扫描 ]  消耗 1 暗区行动令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3886200"/>
            <a:ext cx="2194560" cy="320040"/>
          </a:xfrm>
          <a:prstGeom prst="rect">
            <a:avLst/>
          </a:prstGeom>
          <a:solidFill>
            <a:srgbClr val="22262F"/>
          </a:solidFill>
          <a:ln w="6350">
            <a:solidFill>
              <a:srgbClr val="3A3F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强化追加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80360" y="3886200"/>
            <a:ext cx="2194560" cy="320040"/>
          </a:xfrm>
          <a:prstGeom prst="rect">
            <a:avLst/>
          </a:prstGeom>
          <a:solidFill>
            <a:srgbClr val="22262F"/>
          </a:solidFill>
          <a:ln w="6350">
            <a:solidFill>
              <a:srgbClr val="3A3F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物资兑换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交互说明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0" y="1600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战术终端头部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0" y="18013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模拟CRT军事终端屏幕，绿色扫描线闪烁，显示活动名称与剩余货币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2258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五行扫描区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0" y="24597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五个元素以菱形军事徽章形式排列，网格雷达扫描线动效，点击元素可查看当前等级详情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29169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扫描启动按钮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0" y="31181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按下后触发CRT信号干扰动画→雷达扫描→锁定元素→揭示结果，全程1.5-2秒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35753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强化追加区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0" y="37764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选定元素后进入强化界面，普通强化（免费/有风险降级）与护甲强化（付费/失败不降）两种模式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0" y="4233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 物资兑换商店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0" y="4434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累计获得暗区物资凭证可兑换指定套装，972凭证=1套五行战术装备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抽奖动效流程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LOTTERY ANIMATION FLOW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965960" cy="320040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76200" dist="127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1965960" cy="36576"/>
          </a:xfrm>
          <a:prstGeom prst="rect">
            <a:avLst/>
          </a:prstGeom>
          <a:solidFill>
            <a:srgbClr val="5A5F6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325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信号干扰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1874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0-0.3s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" y="2148840"/>
            <a:ext cx="1737360" cy="9144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2402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按下按钮瞬间，屏幕产生CRT信号干扰效果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画面闪烁+横纹噪点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五行元素快速闪烁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模拟老式军事终端启动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6A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188720"/>
            <a:ext cx="1965960" cy="320040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76200" dist="127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188720"/>
            <a:ext cx="1965960" cy="36576"/>
          </a:xfrm>
          <a:prstGeom prst="rect">
            <a:avLst/>
          </a:prstGeom>
          <a:solidFill>
            <a:srgbClr val="6B7A5A"/>
          </a:solidFill>
          <a:ln/>
        </p:spPr>
      </p:sp>
      <p:sp>
        <p:nvSpPr>
          <p:cNvPr id="16" name="Text 14"/>
          <p:cNvSpPr/>
          <p:nvPr/>
        </p:nvSpPr>
        <p:spPr>
          <a:xfrm>
            <a:off x="2624328" y="1325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2432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雷达扫描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24328" y="1874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0.3-1.0s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24328" y="2148840"/>
            <a:ext cx="1737360" cy="9144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20" name="Text 18"/>
          <p:cNvSpPr/>
          <p:nvPr/>
        </p:nvSpPr>
        <p:spPr>
          <a:xfrm>
            <a:off x="2624328" y="22402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环形雷达扫描线从中心向外扩散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绿色扫描线360度旋转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五行元素依次被扫描照亮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产生金属探测的滴滴声效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6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1965960" cy="320040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76200" dist="127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88720"/>
            <a:ext cx="196596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1325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元素锁定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73168" y="1874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1.0-1.5s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2148840"/>
            <a:ext cx="1737360" cy="9144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22402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扫描线锁定目标五行元素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十字准心聚焦动画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被锁定元素放大+光晕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短促的锁定确认音效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6A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1188720"/>
            <a:ext cx="1965960" cy="320040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76200" dist="127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1188720"/>
            <a:ext cx="196596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2" name="Text 30"/>
          <p:cNvSpPr/>
          <p:nvPr/>
        </p:nvSpPr>
        <p:spPr>
          <a:xfrm>
            <a:off x="6922008" y="1325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2200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结果揭示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22008" y="1874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1.5-2.0s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22008" y="2148840"/>
            <a:ext cx="1737360" cy="9144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36" name="Text 34"/>
          <p:cNvSpPr/>
          <p:nvPr/>
        </p:nvSpPr>
        <p:spPr>
          <a:xfrm>
            <a:off x="6922008" y="22402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元素识别完成，显示获得内容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元素图标放大居中展示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星级变化动画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获得物资凭证数量弹出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22262F"/>
          </a:solidFill>
          <a:ln w="6350">
            <a:solidFill>
              <a:srgbClr val="C8A8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总动效时长: 1.5-2.0秒  |  跳过按钮: 长按0.5秒可快速跳过  |  连抽模式: 10连扫描自动播放精简版(每次0.5秒)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强化追加交互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ENHANCEMENT INTERACTION DESIGN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356616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36576"/>
          </a:xfrm>
          <a:prstGeom prst="rect">
            <a:avLst/>
          </a:prstGeom>
          <a:solidFill>
            <a:srgbClr val="8B3A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普通强化 · STANDARD ENHANCE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/ 无额外消耗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选择目标五行元素（已有至少1星）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点击「普通强化」按钮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系统随机掷出五行结果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若匹配 → 星级+1（成功音效+绿色闪光）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3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若不匹配 → 随机降1-2星（警告音+红色闪烁）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3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若星级降至0以下 → 元素碎裂，领取保底物资凭证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566160" cy="320040"/>
          </a:xfrm>
          <a:prstGeom prst="rect">
            <a:avLst/>
          </a:prstGeom>
          <a:solidFill>
            <a:srgbClr val="8B3A2A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3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碎裂风险：高星级失败可能连降2级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931920" cy="356616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188720"/>
            <a:ext cx="393192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护甲强化 · ARMORED ENHANCE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零风险 / 消耗暗区行动令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选择目标五行元素（已有至少1星）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点击「护甲强化」按钮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额外消耗行动令（随星级递增）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若匹配 → 星级+1（成功）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若不匹配 → 星级不变（护甲吸收伤害动效）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连续3次不匹配后 → 系统保底升1星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4114800"/>
            <a:ext cx="3566160" cy="50292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护甲消耗: 1★→6令 | 2★→17令 | 3★→51令 | 4★→153令 | 5★→440令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奖励体系与品质系统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SYSTEM &amp; QUALITY TIERS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rgbClr val="2A2518"/>
          </a:solidFill>
          <a:ln w="6350">
            <a:solidFill>
              <a:srgbClr val="C8A8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73152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11680" y="1234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84E"/>
                </a:solidFill>
              </a:rPr>
              <a:t>★★★★★★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234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五行战术套装（完整套装）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含头盔/战术背心/武器皮肤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221828"/>
          </a:solidFill>
          <a:ln w="6350">
            <a:solidFill>
              <a:srgbClr val="8B3A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3120"/>
            <a:ext cx="54864" cy="731520"/>
          </a:xfrm>
          <a:prstGeom prst="rect">
            <a:avLst/>
          </a:prstGeom>
          <a:solidFill>
            <a:srgbClr val="8B3A8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03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8B3A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3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168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3A8B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五行武器皮肤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含特效枪械皮肤1件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solidFill>
            <a:srgbClr val="182028"/>
          </a:solidFill>
          <a:ln w="6350">
            <a:solidFill>
              <a:srgbClr val="3A6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71800"/>
            <a:ext cx="54864" cy="731520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3A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1168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6B8C"/>
                </a:solidFill>
              </a:rPr>
              <a:t>★★★★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2971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五行配件/挂件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含战术挂件/护目镜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A1D22"/>
          </a:solidFill>
          <a:ln w="6350">
            <a:solidFill>
              <a:srgbClr val="5A5F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40480"/>
            <a:ext cx="54864" cy="731520"/>
          </a:xfrm>
          <a:prstGeom prst="rect">
            <a:avLst/>
          </a:prstGeom>
          <a:solidFill>
            <a:srgbClr val="5A5F6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5A5F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6A"/>
                </a:solidFill>
              </a:rPr>
              <a:t>★★★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74720" y="3840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暗区物资凭证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972凭证可兑换指定套装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五行战术套装预览 TACTICAL SUIT PREVIEW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1508760" cy="777240"/>
          </a:xfrm>
          <a:prstGeom prst="rect">
            <a:avLst/>
          </a:prstGeom>
          <a:solidFill>
            <a:srgbClr val="22262F"/>
          </a:solidFill>
          <a:ln w="6350">
            <a:solidFill>
              <a:srgbClr val="C8A8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金·弹壳猎手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" y="4507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黄铜色战术甲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反光镀金护目镜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121408" y="4251960"/>
            <a:ext cx="1508760" cy="777240"/>
          </a:xfrm>
          <a:prstGeom prst="rect">
            <a:avLst/>
          </a:prstGeom>
          <a:solidFill>
            <a:srgbClr val="22262F"/>
          </a:solidFill>
          <a:ln w="6350">
            <a:solidFill>
              <a:srgbClr val="4A7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木·丛林幽灵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94560" y="4507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迷彩吉利服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丛林作战背包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85616" y="4251960"/>
            <a:ext cx="1508760" cy="777240"/>
          </a:xfrm>
          <a:prstGeom prst="rect">
            <a:avLst/>
          </a:prstGeom>
          <a:solidFill>
            <a:srgbClr val="22262F"/>
          </a:solidFill>
          <a:ln w="6350">
            <a:solidFill>
              <a:srgbClr val="3A6B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58768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水·深渊潜行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58768" y="4507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深蓝潜水战术服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夜视战术头盔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49824" y="4251960"/>
            <a:ext cx="1508760" cy="777240"/>
          </a:xfrm>
          <a:prstGeom prst="rect">
            <a:avLst/>
          </a:prstGeom>
          <a:solidFill>
            <a:srgbClr val="22262F"/>
          </a:solidFill>
          <a:ln w="6350">
            <a:solidFill>
              <a:srgbClr val="8B3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22976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火·焦土指挥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22976" y="4507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暗红防火战术甲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热成像护目镜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14032" y="4251960"/>
            <a:ext cx="1508760" cy="777240"/>
          </a:xfrm>
          <a:prstGeom prst="rect">
            <a:avLst/>
          </a:prstGeom>
          <a:solidFill>
            <a:srgbClr val="22262F"/>
          </a:solidFill>
          <a:ln w="6350">
            <a:solidFill>
              <a:srgbClr val="7A6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7184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6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土·沙暴哨兵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87184" y="4507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沙色沙漠作战服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防风战术面罩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完整用户操作流程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JOURNEY &amp; INTERACTION FLOW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5A5F6A">
              <a:alpha val="30000"/>
            </a:srgbClr>
          </a:solidFill>
          <a:ln w="12700">
            <a:solidFill>
              <a:srgbClr val="5A5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进入活动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主界面活动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Banner入口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05840" y="1600200"/>
            <a:ext cx="475488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801368" y="1371600"/>
            <a:ext cx="457200" cy="457200"/>
          </a:xfrm>
          <a:prstGeom prst="ellipse">
            <a:avLst/>
          </a:prstGeom>
          <a:solidFill>
            <a:srgbClr val="C8A84E">
              <a:alpha val="30000"/>
            </a:srgbClr>
          </a:solidFill>
          <a:ln w="12700">
            <a:solidFill>
              <a:srgbClr val="C8A8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0136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81328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获取行动令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81328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购买行动令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补给箱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58568" y="1600200"/>
            <a:ext cx="475488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054096" y="1371600"/>
            <a:ext cx="457200" cy="457200"/>
          </a:xfrm>
          <a:prstGeom prst="ellipse">
            <a:avLst/>
          </a:prstGeom>
          <a:solidFill>
            <a:srgbClr val="6B7A5A">
              <a:alpha val="30000"/>
            </a:srgbClr>
          </a:solidFill>
          <a:ln w="12700">
            <a:solidFill>
              <a:srgbClr val="6B7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34056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启动扫描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34056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消耗行动令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随机获取元素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11296" y="1600200"/>
            <a:ext cx="475488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306824" y="1371600"/>
            <a:ext cx="457200" cy="457200"/>
          </a:xfrm>
          <a:prstGeom prst="ellipse">
            <a:avLst/>
          </a:prstGeom>
          <a:solidFill>
            <a:srgbClr val="3A6B8C">
              <a:alpha val="30000"/>
            </a:srgbClr>
          </a:solidFill>
          <a:ln w="12700">
            <a:solidFill>
              <a:srgbClr val="3A6B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682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86784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查看结果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86784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获得五行元素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+物资凭证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64024" y="1600200"/>
            <a:ext cx="475488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559552" y="1371600"/>
            <a:ext cx="457200" cy="457200"/>
          </a:xfrm>
          <a:prstGeom prst="ellipse">
            <a:avLst/>
          </a:prstGeom>
          <a:solidFill>
            <a:srgbClr val="C8A84E">
              <a:alpha val="30000"/>
            </a:srgbClr>
          </a:solidFill>
          <a:ln w="12700">
            <a:solidFill>
              <a:srgbClr val="C8A8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9512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选择策略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9512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继续扫描/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强化/兑换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16752" y="1600200"/>
            <a:ext cx="475488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812280" y="1371600"/>
            <a:ext cx="457200" cy="457200"/>
          </a:xfrm>
          <a:prstGeom prst="ellipse">
            <a:avLst/>
          </a:prstGeom>
          <a:solidFill>
            <a:srgbClr val="8B3A2A">
              <a:alpha val="30000"/>
            </a:srgbClr>
          </a:solidFill>
          <a:ln w="12700">
            <a:solidFill>
              <a:srgbClr val="8B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强化升星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普通or护甲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强化元素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269480" y="1600200"/>
            <a:ext cx="475488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8065008" y="1371600"/>
            <a:ext cx="457200" cy="457200"/>
          </a:xfrm>
          <a:prstGeom prst="ellipse">
            <a:avLst/>
          </a:prstGeom>
          <a:solidFill>
            <a:srgbClr val="C8A84E">
              <a:alpha val="30000"/>
            </a:srgbClr>
          </a:solidFill>
          <a:ln w="12700">
            <a:solidFill>
              <a:srgbClr val="C8A8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500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44968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达成目标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44968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5星解锁套装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or凭证兑换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关键决策点 KEY DECISION POINTS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3200400"/>
            <a:ext cx="8229600" cy="530352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3200400"/>
            <a:ext cx="54864" cy="530352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32004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决策1: 首次投入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60320" y="320040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购买行动令补给箱（300/900点券两档），获得行动令+附赠装饰品。新手引导赠送10枚行动令供体验。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840480"/>
            <a:ext cx="8229600" cy="530352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3840480"/>
            <a:ext cx="54864" cy="530352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38404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决策2: 扫描策略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560320" y="384048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保守型：每次仅扫描1次领保底凭证，累计972枚兑换套装（约340枚行动令）。进取型：扫描后追加强化冲击高星直接解锁套装。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480560"/>
            <a:ext cx="8229600" cy="530352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4480560"/>
            <a:ext cx="54864" cy="530352"/>
          </a:xfrm>
          <a:prstGeom prst="rect">
            <a:avLst/>
          </a:prstGeom>
          <a:solidFill>
            <a:srgbClr val="8B3A2A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4480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决策3: 强化选择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560320" y="44805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普通强化：零成本但有降星风险，适合低星级博弈。护甲强化：消耗行动令但保证不降级，高星必选。三次护甲必升一星。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交互细节与微动效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MICRO-INTERACTIONS &amp; DETAILS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164592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265176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CRT开机效果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进入活动页时，屏幕从中心向外展开，模拟CRT显示器开机。配合静电噪音音效，0.5秒内完成。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1234440"/>
            <a:ext cx="2651760" cy="164592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234440"/>
            <a:ext cx="2651760" cy="36576"/>
          </a:xfrm>
          <a:prstGeom prst="rect">
            <a:avLst/>
          </a:prstGeom>
          <a:solidFill>
            <a:srgbClr val="6B7A5A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扫描线常驻动效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6916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主界面五行区域持续有一条半透明扫描线缓慢旋转，营造军事雷达的持续监控感。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71616" y="1234440"/>
            <a:ext cx="2651760" cy="164592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234440"/>
            <a:ext cx="2651760" cy="36576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元素悬停反馈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16916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手指/鼠标悬停在五行元素上时，元素微微放大1.1x，边框亮度提升，显示当前星级浮层。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651760" cy="164592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2651760" cy="36576"/>
          </a:xfrm>
          <a:prstGeom prst="rect">
            <a:avLst/>
          </a:prstGeom>
          <a:solidFill>
            <a:srgbClr val="8B3A2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强化成功/失败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520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成功：绿色粒子从元素向外迸发，星级数字跳动。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失败：红色裂纹覆盖元素，碎片飞散，屏幕短暂抖动。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18688" y="3063240"/>
            <a:ext cx="2651760" cy="164592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3063240"/>
            <a:ext cx="265176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24" name="Text 22"/>
          <p:cNvSpPr/>
          <p:nvPr/>
        </p:nvSpPr>
        <p:spPr>
          <a:xfrm>
            <a:off x="3355848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连抽加速模式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5848" y="3520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10连扫描时，动效压缩至每次0.5秒。五行元素快速轮播→锁定。最终显示10次汇总结果面板。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71616" y="3063240"/>
            <a:ext cx="2651760" cy="1645920"/>
          </a:xfrm>
          <a:prstGeom prst="rect">
            <a:avLst/>
          </a:prstGeom>
          <a:solidFill>
            <a:srgbClr val="22262F"/>
          </a:solidFill>
          <a:ln/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3063240"/>
            <a:ext cx="2651760" cy="36576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28" name="Text 26"/>
          <p:cNvSpPr/>
          <p:nvPr/>
        </p:nvSpPr>
        <p:spPr>
          <a:xfrm>
            <a:off x="6208776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满星解锁仪式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08776" y="3520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达到5星时触发全屏特效：元素从战术终端中升起，全屏光柱+粒子爆发。套装3D旋转展示。持续3秒。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付费转化与运营策略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MONETIZATION &amp; OPERATION STRATEGY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3716"/>
          </a:xfrm>
          <a:prstGeom prst="rect">
            <a:avLst/>
          </a:prstGeom>
          <a:solidFill>
            <a:srgbClr val="3A3F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付费触点设计 PAYMENT TOUCHPOINTS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548640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" cy="548640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行动令补给箱·轻装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90行动令 + 限定挂件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300点券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931920" cy="548640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77440"/>
            <a:ext cx="54864" cy="54864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行动令补给箱·重装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633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240行动令 + 限定武器皮肤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2608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900点券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3931920" cy="548640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063240"/>
            <a:ext cx="54864" cy="548640"/>
          </a:xfrm>
          <a:prstGeom prst="rect">
            <a:avLst/>
          </a:prstGeom>
          <a:solidFill>
            <a:srgbClr val="8B3A2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护甲强化消耗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319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高星护甲强化付费驱动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2608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按星级递增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3931920" cy="548640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749040"/>
            <a:ext cx="54864" cy="548640"/>
          </a:xfrm>
          <a:prstGeom prst="rect">
            <a:avLst/>
          </a:prstGeom>
          <a:solidFill>
            <a:srgbClr val="7A6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额外行动令购买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弹性补充消耗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26080" y="3749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A6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60点券/10枚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运营节奏 OPERATION RHYTHM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691640"/>
            <a:ext cx="3931920" cy="438912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16916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D1-D3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16916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开放扫描 + 首充双倍行动令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240280"/>
            <a:ext cx="3931920" cy="438912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24028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D4-D7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22402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护甲强化折扣（消耗-20%）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788920"/>
            <a:ext cx="3931920" cy="438912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7889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D8-D10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27889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10连扫描送额外物资凭证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337560"/>
            <a:ext cx="3931920" cy="438912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33756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D11-D13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3337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限定五行元素概率UP轮换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3931920" cy="438912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88620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60720" y="38862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末日冲刺 · 全场消耗-30%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434840"/>
            <a:ext cx="3931920" cy="502920"/>
          </a:xfrm>
          <a:prstGeom prst="rect">
            <a:avLst/>
          </a:prstGeom>
          <a:solidFill>
            <a:srgbClr val="22262F"/>
          </a:solidFill>
          <a:ln w="6350">
            <a:solidFill>
              <a:srgbClr val="C8A8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预期: 活动周期14天 | 人均消费提升30%+ | 保底消费约120元/套装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54864" cy="402336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设计总结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暗区美学一致性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灰色基调+军事终端+CRT屏幕质感，与暗区突围主界面风格完全统一，不破坏沉浸感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东方五行的硬核重塑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将金木水火土映射为弹壳黄铜/迷彩绿/深海蓝/铁锈红/沙色，五行文化在军事语境下的全新演绎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B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策略博弈深度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保留和平精英五曜赐福的核心数值体系，叠加暗区特色的风险决策语义（强化=装备强化，碎裂=物资损失）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A8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全链路仪式感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CRT开机→雷达扫描→元素锁定→满星解锁，每一步都有匹配暗区调性的动效与音效设计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27432"/>
          </a:xfrm>
          <a:prstGeom prst="rect">
            <a:avLst/>
          </a:prstGeom>
          <a:solidFill>
            <a:srgbClr val="C8A84E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TENCENT GAMES  ·  暗区突围  ·  五行战术终端  ·  商业化交互设计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暗区突围 · 五行奖池视觉交互设计</dc:title>
  <dc:subject>PptxGenJS Presentation</dc:subject>
  <dc:creator>腾讯游戏商业化交互设计组</dc:creator>
  <cp:lastModifiedBy>腾讯游戏商业化交互设计组</cp:lastModifiedBy>
  <cp:revision>1</cp:revision>
  <dcterms:created xsi:type="dcterms:W3CDTF">2026-03-27T11:03:27Z</dcterms:created>
  <dcterms:modified xsi:type="dcterms:W3CDTF">2026-03-27T11:03:27Z</dcterms:modified>
</cp:coreProperties>
</file>